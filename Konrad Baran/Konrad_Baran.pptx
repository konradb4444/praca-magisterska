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64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6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59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1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45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936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3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28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8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8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9177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77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8276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6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01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1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69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77B48D-7BF2-470D-876B-50CD5CC8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F899650-7108-9038-0A1B-F5422D4FE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3" y="685799"/>
            <a:ext cx="4781147" cy="29718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600"/>
              <a:t>Konwersacyjny asystent AI wspierający lekarza w prognozowaniu ryzyka zgonu u pacjentów z zapaleniem naczyń</a:t>
            </a:r>
            <a:r>
              <a:rPr lang="pl-PL" sz="2600" b="0"/>
              <a:t> </a:t>
            </a:r>
            <a:endParaRPr lang="pl-PL" sz="260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42BB54A-624A-57F2-6EA5-CAA592D26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4816572" cy="1947333"/>
          </a:xfrm>
        </p:spPr>
        <p:txBody>
          <a:bodyPr>
            <a:normAutofit/>
          </a:bodyPr>
          <a:lstStyle/>
          <a:p>
            <a:r>
              <a:rPr lang="pl-PL"/>
              <a:t>Konrad Baran</a:t>
            </a:r>
          </a:p>
        </p:txBody>
      </p:sp>
      <p:pic>
        <p:nvPicPr>
          <p:cNvPr id="4" name="Picture 3" descr="Obraz zawierający niebo, chmura, niebieskie, zrzut ekranu&#10;&#10;Zawartość wygenerowana przez AI może być niepoprawna.">
            <a:extLst>
              <a:ext uri="{FF2B5EF4-FFF2-40B4-BE49-F238E27FC236}">
                <a16:creationId xmlns:a16="http://schemas.microsoft.com/office/drawing/2014/main" id="{9F9732A2-0C5D-9966-056D-B6B98DBA6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7" r="16667"/>
          <a:stretch>
            <a:fillRect/>
          </a:stretch>
        </p:blipFill>
        <p:spPr>
          <a:xfrm>
            <a:off x="6096000" y="10"/>
            <a:ext cx="609599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3DA8283-3FF4-47B3-9266-60768C74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93200" y="8468"/>
            <a:ext cx="5795625" cy="5874808"/>
            <a:chOff x="6108170" y="8467"/>
            <a:chExt cx="6080656" cy="616373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DEB65FF-EAD9-4242-80AE-A3FC7EB1E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8B5500-48F2-41FA-BD8C-3C2400F62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47B2E66-9934-4251-A5B0-A180C0CC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CDA1666-64EC-4838-B0E1-4D545ECEA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C99E35-6C12-4F89-8CDA-9FD8B3CEE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824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09B08A-C1EC-478C-86AF-60ADE06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10CDD34-878F-6963-D35B-B4D9816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90" y="685800"/>
            <a:ext cx="4818656" cy="46037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200"/>
              <a:t>CEL PRACY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1CC330-4259-4C32-BF8B-5FE13FFAB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F205B4D3-E115-3E3D-B726-45B20C781CF9}"/>
              </a:ext>
            </a:extLst>
          </p:cNvPr>
          <p:cNvSpPr txBox="1"/>
          <p:nvPr/>
        </p:nvSpPr>
        <p:spPr>
          <a:xfrm>
            <a:off x="6625651" y="685800"/>
            <a:ext cx="4878959" cy="4603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dirty="0"/>
              <a:t>Cel </a:t>
            </a:r>
            <a:r>
              <a:rPr lang="en-US" dirty="0" err="1"/>
              <a:t>pracy</a:t>
            </a:r>
            <a:r>
              <a:rPr lang="en-US" dirty="0"/>
              <a:t> to </a:t>
            </a:r>
            <a:r>
              <a:rPr lang="en-US" dirty="0" err="1"/>
              <a:t>stworzenie</a:t>
            </a:r>
            <a:r>
              <a:rPr lang="en-US" dirty="0"/>
              <a:t> </a:t>
            </a:r>
            <a:r>
              <a:rPr lang="en-US" dirty="0" err="1"/>
              <a:t>Asystenta</a:t>
            </a:r>
            <a:r>
              <a:rPr lang="en-US" dirty="0"/>
              <a:t> AI </a:t>
            </a:r>
            <a:r>
              <a:rPr lang="en-US" dirty="0" err="1"/>
              <a:t>prognozującego</a:t>
            </a:r>
            <a:r>
              <a:rPr lang="en-US" dirty="0"/>
              <a:t> </a:t>
            </a:r>
            <a:r>
              <a:rPr lang="en-US" dirty="0" err="1"/>
              <a:t>ryzyko</a:t>
            </a:r>
            <a:r>
              <a:rPr lang="en-US" dirty="0"/>
              <a:t> </a:t>
            </a:r>
            <a:r>
              <a:rPr lang="en-US" dirty="0" err="1"/>
              <a:t>zgonu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konieczność</a:t>
            </a:r>
            <a:r>
              <a:rPr lang="en-US" dirty="0"/>
              <a:t> </a:t>
            </a:r>
            <a:r>
              <a:rPr lang="en-US" dirty="0" err="1"/>
              <a:t>dializoterapii</a:t>
            </a:r>
            <a:r>
              <a:rPr lang="en-US" dirty="0"/>
              <a:t>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 dirty="0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dirty="0" err="1"/>
              <a:t>Zbiór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 </a:t>
            </a:r>
            <a:r>
              <a:rPr lang="en-US" dirty="0" err="1"/>
              <a:t>zawiera</a:t>
            </a:r>
            <a:r>
              <a:rPr lang="en-US" dirty="0"/>
              <a:t> 847 </a:t>
            </a:r>
            <a:r>
              <a:rPr lang="en-US" dirty="0" err="1"/>
              <a:t>unikalnych</a:t>
            </a:r>
            <a:r>
              <a:rPr lang="en-US" dirty="0"/>
              <a:t> </a:t>
            </a:r>
            <a:r>
              <a:rPr lang="en-US" dirty="0" err="1"/>
              <a:t>pacjentów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144 </a:t>
            </a:r>
            <a:r>
              <a:rPr lang="en-US" dirty="0" err="1"/>
              <a:t>zmienne</a:t>
            </a:r>
            <a:r>
              <a:rPr lang="en-US" dirty="0"/>
              <a:t> </a:t>
            </a:r>
            <a:r>
              <a:rPr lang="en-US" dirty="0" err="1"/>
              <a:t>kliniczne</a:t>
            </a:r>
            <a:r>
              <a:rPr lang="en-US" dirty="0"/>
              <a:t> (</a:t>
            </a:r>
            <a:r>
              <a:rPr lang="en-US" dirty="0" err="1"/>
              <a:t>takie</a:t>
            </a:r>
            <a:r>
              <a:rPr lang="en-US" dirty="0"/>
              <a:t> jak </a:t>
            </a:r>
            <a:r>
              <a:rPr lang="en-US" dirty="0" err="1"/>
              <a:t>demografia</a:t>
            </a:r>
            <a:r>
              <a:rPr lang="en-US" dirty="0"/>
              <a:t>, </a:t>
            </a:r>
            <a:r>
              <a:rPr lang="en-US" dirty="0" err="1"/>
              <a:t>objawy</a:t>
            </a:r>
            <a:r>
              <a:rPr lang="en-US" dirty="0"/>
              <a:t>, </a:t>
            </a:r>
            <a:r>
              <a:rPr lang="en-US" dirty="0" err="1"/>
              <a:t>leczenie</a:t>
            </a:r>
            <a:r>
              <a:rPr lang="en-US" dirty="0"/>
              <a:t>).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 dirty="0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dirty="0" err="1"/>
              <a:t>Czy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podstawie</a:t>
            </a:r>
            <a:r>
              <a:rPr lang="en-US" dirty="0"/>
              <a:t> </a:t>
            </a:r>
            <a:r>
              <a:rPr lang="en-US" dirty="0" err="1"/>
              <a:t>danych</a:t>
            </a:r>
            <a:r>
              <a:rPr lang="en-US" dirty="0"/>
              <a:t> </a:t>
            </a:r>
            <a:r>
              <a:rPr lang="en-US" dirty="0" err="1"/>
              <a:t>tabelarycznych</a:t>
            </a:r>
            <a:r>
              <a:rPr lang="en-US" dirty="0"/>
              <a:t> </a:t>
            </a:r>
            <a:r>
              <a:rPr lang="en-US" dirty="0" err="1"/>
              <a:t>można</a:t>
            </a:r>
            <a:r>
              <a:rPr lang="en-US" dirty="0"/>
              <a:t> </a:t>
            </a:r>
            <a:r>
              <a:rPr lang="en-US" dirty="0" err="1"/>
              <a:t>zbudować</a:t>
            </a:r>
            <a:r>
              <a:rPr lang="en-US" dirty="0"/>
              <a:t> </a:t>
            </a:r>
            <a:r>
              <a:rPr lang="en-US" dirty="0" err="1"/>
              <a:t>stabilny</a:t>
            </a:r>
            <a:r>
              <a:rPr lang="en-US" dirty="0"/>
              <a:t> model ML o </a:t>
            </a:r>
            <a:r>
              <a:rPr lang="en-US" dirty="0" err="1"/>
              <a:t>skuteczności</a:t>
            </a:r>
            <a:r>
              <a:rPr lang="en-US" dirty="0"/>
              <a:t> </a:t>
            </a:r>
            <a:r>
              <a:rPr lang="en-US" dirty="0" err="1"/>
              <a:t>klinicznej</a:t>
            </a:r>
            <a:r>
              <a:rPr lang="en-US" dirty="0"/>
              <a:t> (&gt;90% AUC)?</a:t>
            </a:r>
          </a:p>
        </p:txBody>
      </p:sp>
    </p:spTree>
    <p:extLst>
      <p:ext uri="{BB962C8B-B14F-4D97-AF65-F5344CB8AC3E}">
        <p14:creationId xmlns:p14="http://schemas.microsoft.com/office/powerpoint/2010/main" val="1773029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CED5AA7-134B-8198-3309-5AE6CA5EF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/>
            <a:r>
              <a:rPr lang="pl-PL" sz="3300" err="1"/>
              <a:t>Preprocessing</a:t>
            </a:r>
            <a:r>
              <a:rPr lang="pl-PL" sz="3300"/>
              <a:t> danych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762E6AB-F3C0-09D6-42D8-A1F0920D8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>
                <a:solidFill>
                  <a:schemeClr val="tx1"/>
                </a:solidFill>
              </a:rPr>
              <a:t>Początkowym problemem była niespójność zbioru z podanym opisem cech, kluczowe kolumny zawierały specyficzne kodowanie danych, np. dla dializy wartość -1 (mniej więcej ¾ rekordów) zidentyfikowano jako "Brak dializy" (pacjent zdrowy), a nie brak danych jak wcześniej przypuszczano. Podobną anomalię wykryto w powikłaniach narządowych, gdzie wartość 2 oznaczała stan prawidłowy.</a:t>
            </a:r>
          </a:p>
        </p:txBody>
      </p:sp>
    </p:spTree>
    <p:extLst>
      <p:ext uri="{BB962C8B-B14F-4D97-AF65-F5344CB8AC3E}">
        <p14:creationId xmlns:p14="http://schemas.microsoft.com/office/powerpoint/2010/main" val="385144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18271-A578-11B1-FA90-D89024E5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9E8FBD-FEE4-125D-621C-5EC32570E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34" y="3697397"/>
            <a:ext cx="7866895" cy="7239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pl-PL" sz="4000" dirty="0"/>
              <a:t>Wybór modelu (benchmark)</a:t>
            </a:r>
            <a:endParaRPr lang="en-US" sz="4000" dirty="0"/>
          </a:p>
        </p:txBody>
      </p:sp>
      <p:pic>
        <p:nvPicPr>
          <p:cNvPr id="5" name="Obraz 4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44D961A1-DC07-2932-55A8-1BFAA9D8C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4" y="353405"/>
            <a:ext cx="5125991" cy="3075595"/>
          </a:xfrm>
          <a:prstGeom prst="rect">
            <a:avLst/>
          </a:prstGeom>
        </p:spPr>
      </p:pic>
      <p:pic>
        <p:nvPicPr>
          <p:cNvPr id="7" name="Obraz 6" descr="Obraz zawierający tekst, diagram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164937A6-6256-270E-5809-07CD1FD59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624" y="353405"/>
            <a:ext cx="5125991" cy="307559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270CE14-7D8D-EA43-F8EB-3B2D85C891F8}"/>
              </a:ext>
            </a:extLst>
          </p:cNvPr>
          <p:cNvSpPr txBox="1"/>
          <p:nvPr/>
        </p:nvSpPr>
        <p:spPr>
          <a:xfrm>
            <a:off x="636634" y="4689694"/>
            <a:ext cx="8806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XGBoost</a:t>
            </a:r>
            <a:r>
              <a:rPr lang="pl-PL" dirty="0"/>
              <a:t> nie tylko wygrywa średnią skutecznością, ale ma najmniejszy rozrzut wyników.</a:t>
            </a:r>
          </a:p>
        </p:txBody>
      </p:sp>
    </p:spTree>
    <p:extLst>
      <p:ext uri="{BB962C8B-B14F-4D97-AF65-F5344CB8AC3E}">
        <p14:creationId xmlns:p14="http://schemas.microsoft.com/office/powerpoint/2010/main" val="384605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4C4A-6858-6AD5-DBBF-5C90DD59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B77A60-74E7-6A93-BEDE-AEBF9B5F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52" y="341787"/>
            <a:ext cx="8534400" cy="812836"/>
          </a:xfrm>
        </p:spPr>
        <p:txBody>
          <a:bodyPr>
            <a:normAutofit/>
          </a:bodyPr>
          <a:lstStyle/>
          <a:p>
            <a:r>
              <a:rPr lang="pl-PL" sz="4000" dirty="0"/>
              <a:t>Selekcja cech</a:t>
            </a:r>
          </a:p>
        </p:txBody>
      </p:sp>
      <p:pic>
        <p:nvPicPr>
          <p:cNvPr id="5" name="Symbol zastępczy zawartości 4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79B2AAC2-8284-2A0D-85BA-58ADE7401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680" y="1154623"/>
            <a:ext cx="7030640" cy="3124729"/>
          </a:xfr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F46B1322-C914-AAEE-EE59-7CEB91977763}"/>
              </a:ext>
            </a:extLst>
          </p:cNvPr>
          <p:cNvSpPr txBox="1"/>
          <p:nvPr/>
        </p:nvSpPr>
        <p:spPr>
          <a:xfrm>
            <a:off x="2027635" y="4484888"/>
            <a:ext cx="81367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Nie można zaufać tylko </a:t>
            </a:r>
            <a:r>
              <a:rPr lang="pl-PL" dirty="0" err="1"/>
              <a:t>XGBoostowi</a:t>
            </a:r>
            <a:r>
              <a:rPr lang="pl-PL" dirty="0"/>
              <a:t>, przez to użyto trzech niezależnych algorytmów: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 err="1"/>
              <a:t>XGBoost</a:t>
            </a:r>
            <a:r>
              <a:rPr lang="pl-PL" b="1" dirty="0"/>
              <a:t> </a:t>
            </a:r>
            <a:r>
              <a:rPr lang="pl-PL" b="1" dirty="0" err="1"/>
              <a:t>Feature</a:t>
            </a:r>
            <a:r>
              <a:rPr lang="pl-PL" b="1" dirty="0"/>
              <a:t> </a:t>
            </a:r>
            <a:r>
              <a:rPr lang="pl-PL" b="1" dirty="0" err="1"/>
              <a:t>Importance</a:t>
            </a:r>
            <a:r>
              <a:rPr lang="pl-PL" b="1" dirty="0"/>
              <a:t>:</a:t>
            </a:r>
            <a:r>
              <a:rPr lang="pl-PL" dirty="0"/>
              <a:t> Ocena zdolności cechy do podziału drzewa decyzyjnego.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Mutual Information (Entropia):</a:t>
            </a:r>
            <a:r>
              <a:rPr lang="pl-PL" dirty="0"/>
              <a:t> Ocena ilości informacji, jaką cecha wnosi o zmiennej celowej (niezależnie od modelu).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Korelacja Pearsona:</a:t>
            </a:r>
            <a:r>
              <a:rPr lang="pl-PL" dirty="0"/>
              <a:t> Wykrywanie silnych zależności liniowych.</a:t>
            </a:r>
          </a:p>
        </p:txBody>
      </p:sp>
    </p:spTree>
    <p:extLst>
      <p:ext uri="{BB962C8B-B14F-4D97-AF65-F5344CB8AC3E}">
        <p14:creationId xmlns:p14="http://schemas.microsoft.com/office/powerpoint/2010/main" val="388782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E83B-FBAD-3606-F069-6555ACD6A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DA5E34-CA67-7A38-EBF9-D34354915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52" y="341787"/>
            <a:ext cx="8534400" cy="812836"/>
          </a:xfrm>
        </p:spPr>
        <p:txBody>
          <a:bodyPr>
            <a:normAutofit/>
          </a:bodyPr>
          <a:lstStyle/>
          <a:p>
            <a:r>
              <a:rPr lang="pl-PL" sz="4000" dirty="0"/>
              <a:t>Dylemat „ile zadać pytań?”</a:t>
            </a:r>
          </a:p>
        </p:txBody>
      </p:sp>
      <p:pic>
        <p:nvPicPr>
          <p:cNvPr id="5" name="Obraz 4" descr="Obraz zawierający tekst, Wykres, linia, diagram&#10;&#10;Zawartość wygenerowana przez AI może być niepoprawna.">
            <a:extLst>
              <a:ext uri="{FF2B5EF4-FFF2-40B4-BE49-F238E27FC236}">
                <a16:creationId xmlns:a16="http://schemas.microsoft.com/office/drawing/2014/main" id="{942292FD-4B7A-040F-E6ED-13B70A6E7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405" y="1149989"/>
            <a:ext cx="5621174" cy="281058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F7FCCBC-C9BE-B08A-8BBB-17EB1BA297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9299" y="3989728"/>
            <a:ext cx="520574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Analiza RFECV (</a:t>
            </a:r>
            <a:r>
              <a:rPr kumimoji="0" lang="pl-PL" altLang="pl-P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Recursive</a:t>
            </a: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l-PL" altLang="pl-P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</a:t>
            </a: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l-PL" altLang="pl-P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Elimination</a:t>
            </a: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Matematyczne wyznaczenie optymalnej liczby cech.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Optimum matematyczne to </a:t>
            </a:r>
            <a:r>
              <a:rPr kumimoji="0" lang="pl-PL" altLang="pl-PL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 cechy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Decyzja Projektowa:</a:t>
            </a:r>
            <a:r>
              <a:rPr kumimoji="0" lang="pl-PL" altLang="pl-P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Odrzucenie optimum matematycznego na rzecz użyteczności klinicznej</a:t>
            </a:r>
            <a:r>
              <a:rPr lang="pl-PL" altLang="pl-PL" sz="1800" dirty="0">
                <a:solidFill>
                  <a:schemeClr val="tx1"/>
                </a:solidFill>
                <a:latin typeface="+mj-lt"/>
              </a:rPr>
              <a:t> (3 pytania to za mało).</a:t>
            </a: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DA3D105-6E41-DDBC-73DC-70BBCFC52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8992" y="4023515"/>
            <a:ext cx="520574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l-PL" altLang="pl-PL" sz="1800" dirty="0">
                <a:solidFill>
                  <a:schemeClr val="tx1"/>
                </a:solidFill>
                <a:latin typeface="+mj-lt"/>
              </a:rPr>
              <a:t>Optimum wskazuje na 11 cech.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l-PL" sz="1800" dirty="0">
                <a:solidFill>
                  <a:schemeClr val="tx1"/>
                </a:solidFill>
              </a:rPr>
              <a:t>Wyraźny spadek </a:t>
            </a:r>
            <a:r>
              <a:rPr lang="pl-PL" sz="1800" dirty="0" err="1">
                <a:solidFill>
                  <a:schemeClr val="tx1"/>
                </a:solidFill>
              </a:rPr>
              <a:t>Consensus</a:t>
            </a:r>
            <a:r>
              <a:rPr lang="pl-PL" sz="1800" dirty="0">
                <a:solidFill>
                  <a:schemeClr val="tx1"/>
                </a:solidFill>
              </a:rPr>
              <a:t> </a:t>
            </a:r>
            <a:r>
              <a:rPr lang="pl-PL" sz="1800" dirty="0" err="1">
                <a:solidFill>
                  <a:schemeClr val="tx1"/>
                </a:solidFill>
              </a:rPr>
              <a:t>Score</a:t>
            </a:r>
            <a:r>
              <a:rPr lang="pl-PL" sz="1800" dirty="0">
                <a:solidFill>
                  <a:schemeClr val="tx1"/>
                </a:solidFill>
              </a:rPr>
              <a:t> poniżej poziomu 0.20 przy siódmej cesze</a:t>
            </a:r>
            <a:endParaRPr lang="pl-PL" altLang="pl-PL" sz="1800" dirty="0">
              <a:solidFill>
                <a:schemeClr val="tx1"/>
              </a:solidFill>
              <a:latin typeface="+mj-lt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l-PL" sz="1800" dirty="0">
                <a:solidFill>
                  <a:schemeClr val="tx1"/>
                </a:solidFill>
                <a:latin typeface="+mj-lt"/>
              </a:rPr>
              <a:t>Dodanie kolejnych cech podnosi skuteczność o pomijalne </a:t>
            </a:r>
            <a:r>
              <a:rPr lang="pl-PL" sz="1800" b="1" dirty="0">
                <a:solidFill>
                  <a:schemeClr val="tx1"/>
                </a:solidFill>
                <a:latin typeface="+mj-lt"/>
              </a:rPr>
              <a:t>0.005 AUC</a:t>
            </a:r>
            <a:r>
              <a:rPr lang="pl-PL" sz="1800" dirty="0">
                <a:solidFill>
                  <a:schemeClr val="tx1"/>
                </a:solidFill>
                <a:latin typeface="+mj-lt"/>
              </a:rPr>
              <a:t>, a wydłuża wywiad o 50%.</a:t>
            </a:r>
            <a:endParaRPr lang="pl-PL" altLang="pl-PL" sz="18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1941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C5896F-7EDB-694E-F209-6F307E51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24" y="500960"/>
            <a:ext cx="8534400" cy="725282"/>
          </a:xfrm>
        </p:spPr>
        <p:txBody>
          <a:bodyPr/>
          <a:lstStyle/>
          <a:p>
            <a:r>
              <a:rPr lang="pl-PL" dirty="0"/>
              <a:t>Model ryzyka zgonu i dializa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3F455F-D84F-24BD-1683-B627B05F28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4624" y="1697448"/>
            <a:ext cx="5160387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Algorytm: </a:t>
            </a:r>
            <a:r>
              <a:rPr kumimoji="0" lang="pl-PL" altLang="pl-PL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XGBoost</a:t>
            </a:r>
            <a:r>
              <a:rPr kumimoji="0" lang="pl-PL" altLang="pl-PL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Skuteczność: AUC 0.94.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Top 5 Kluczowych Cech: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Liczba zajętych narządów.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Konieczność pobytu na OIT.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Objawy z przewodu pokarmowego.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Objawy Ośrodkowego Układu Nerwowego.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Objawy Moczowo-Płciowe.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A2CD48-5079-CBD9-15CF-E7EDEF246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943669"/>
            <a:ext cx="381707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l-PL" altLang="pl-PL" sz="1800" dirty="0">
                <a:solidFill>
                  <a:schemeClr val="tx1"/>
                </a:solidFill>
                <a:latin typeface="+mj-lt"/>
              </a:rPr>
              <a:t>Algorytm: </a:t>
            </a:r>
            <a:r>
              <a:rPr lang="pl-PL" altLang="pl-PL" sz="1800" dirty="0" err="1">
                <a:solidFill>
                  <a:schemeClr val="tx1"/>
                </a:solidFill>
                <a:latin typeface="+mj-lt"/>
              </a:rPr>
              <a:t>XGBoost</a:t>
            </a:r>
            <a:r>
              <a:rPr lang="pl-PL" altLang="pl-PL" sz="18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l-PL" altLang="pl-PL" sz="1800" dirty="0">
                <a:solidFill>
                  <a:schemeClr val="tx1"/>
                </a:solidFill>
                <a:latin typeface="+mj-lt"/>
              </a:rPr>
              <a:t>Skuteczność: AUC 0.96.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pl-PL" altLang="pl-PL" sz="1800" dirty="0">
                <a:solidFill>
                  <a:schemeClr val="tx1"/>
                </a:solidFill>
                <a:latin typeface="+mj-lt"/>
              </a:rPr>
              <a:t>Top 3 Kluczowe Cechy: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pl-PL" altLang="pl-PL" sz="1600" dirty="0">
                <a:solidFill>
                  <a:schemeClr val="tx1"/>
                </a:solidFill>
                <a:latin typeface="+mj-lt"/>
              </a:rPr>
              <a:t>Poziom Kreatyniny (86% wagi).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pl-PL" altLang="pl-PL" sz="1600" dirty="0">
                <a:solidFill>
                  <a:schemeClr val="tx1"/>
                </a:solidFill>
                <a:latin typeface="+mj-lt"/>
              </a:rPr>
              <a:t>Zastosowanie Plazmaferezy.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pl-PL" altLang="pl-PL" sz="1600" dirty="0">
                <a:solidFill>
                  <a:schemeClr val="tx1"/>
                </a:solidFill>
                <a:latin typeface="+mj-lt"/>
              </a:rPr>
              <a:t>Typ rozpoznania (GPA/MPA).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pl-PL" altLang="pl-PL" sz="18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57189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DF21D5-92B5-4D0E-8ACB-CD3732E40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B729B08C-A8E8-4A5F-BE85-F0B9269F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F0DAB2-66C2-4FB9-A4F3-E117F1D1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C7822CD-C541-4174-B43B-4A5E28818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8BC445-D166-4C73-9048-E9EAA3130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0D18988-C2FA-49D2-BDF7-5C3060944B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EBDE56-D9C2-4852-B55B-3DB8E6795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B5952F4-0479-49EC-8294-C078F2353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2153236F-D24F-5F46-74C2-EC096918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15" y="3112780"/>
            <a:ext cx="4060474" cy="613916"/>
          </a:xfrm>
        </p:spPr>
        <p:txBody>
          <a:bodyPr anchor="b">
            <a:normAutofit fontScale="90000"/>
          </a:bodyPr>
          <a:lstStyle/>
          <a:p>
            <a:r>
              <a:rPr lang="pl-PL" dirty="0">
                <a:solidFill>
                  <a:srgbClr val="FFFFFF"/>
                </a:solidFill>
              </a:rPr>
              <a:t>podsumowanie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1DD92A-B6C0-2B2B-5D94-8BB6ECF5E1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10275" y="1040245"/>
            <a:ext cx="6261337" cy="47589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pl-PL" altLang="pl-P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Status obecny:</a:t>
            </a: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Dane wyczyszczone i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zwalidowane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Modele wytrenowane i zapisane (Gotowe pliki konfiguracyjne).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Zidentyfikowana lista pytań dla lekarza (ok. 15 unikalnych pytań łącznie).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pl-PL" altLang="pl-P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Planowane prace:</a:t>
            </a: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Integracja modeli z interfejsem LLM. (RAG/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Function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l-PL" altLang="pl-PL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Calling</a:t>
            </a:r>
            <a:r>
              <a:rPr kumimoji="0" lang="pl-PL" altLang="pl-P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do ustalenia).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endParaRPr kumimoji="0" lang="pl-PL" altLang="pl-P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6861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" y="2"/>
            <a:ext cx="121920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Snip Diagonal Corner Rectangle 6">
            <a:extLst>
              <a:ext uri="{FF2B5EF4-FFF2-40B4-BE49-F238E27FC236}">
                <a16:creationId xmlns:a16="http://schemas.microsoft.com/office/drawing/2014/main" id="{2D5EEA8B-2D86-4D1D-96B3-6B8290303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snip2DiagRect">
            <a:avLst>
              <a:gd name="adj1" fmla="val 0"/>
              <a:gd name="adj2" fmla="val 37605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2773407-6951-2DF2-C28E-AD03501C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935" y="2781300"/>
            <a:ext cx="7094390" cy="82989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b="1" dirty="0" err="1"/>
              <a:t>Dziękuje</a:t>
            </a:r>
            <a:r>
              <a:rPr lang="en-US" sz="5400" b="1" dirty="0"/>
              <a:t> za </a:t>
            </a:r>
            <a:r>
              <a:rPr lang="en-US" sz="5400" b="1" dirty="0" err="1"/>
              <a:t>uwagę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115700451"/>
      </p:ext>
    </p:extLst>
  </p:cSld>
  <p:clrMapOvr>
    <a:masterClrMapping/>
  </p:clrMapOvr>
</p:sld>
</file>

<file path=ppt/theme/theme1.xml><?xml version="1.0" encoding="utf-8"?>
<a:theme xmlns:a="http://schemas.openxmlformats.org/drawingml/2006/main" name="Wycinek">
  <a:themeElements>
    <a:clrScheme name="Wycinek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Wycine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ycine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262</TotalTime>
  <Words>403</Words>
  <Application>Microsoft Office PowerPoint</Application>
  <PresentationFormat>Panoramiczny</PresentationFormat>
  <Paragraphs>47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Wycinek</vt:lpstr>
      <vt:lpstr>Konwersacyjny asystent AI wspierający lekarza w prognozowaniu ryzyka zgonu u pacjentów z zapaleniem naczyń </vt:lpstr>
      <vt:lpstr>CEL PRACY</vt:lpstr>
      <vt:lpstr>Preprocessing danych</vt:lpstr>
      <vt:lpstr>Wybór modelu (benchmark)</vt:lpstr>
      <vt:lpstr>Selekcja cech</vt:lpstr>
      <vt:lpstr>Dylemat „ile zadać pytań?”</vt:lpstr>
      <vt:lpstr>Model ryzyka zgonu i dializa</vt:lpstr>
      <vt:lpstr>podsumowanie</vt:lpstr>
      <vt:lpstr>Dziękuje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Konrad</dc:creator>
  <cp:lastModifiedBy>Konrad</cp:lastModifiedBy>
  <cp:revision>11</cp:revision>
  <dcterms:created xsi:type="dcterms:W3CDTF">2026-01-21T18:29:06Z</dcterms:created>
  <dcterms:modified xsi:type="dcterms:W3CDTF">2026-01-21T23:02:32Z</dcterms:modified>
</cp:coreProperties>
</file>